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83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ar-SA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Drive كإحدى خدمات الحوسبة السحابية</a:t>
            </a:r>
            <a:endParaRPr lang="ar-SA" sz="3700" dirty="0"/>
          </a:p>
        </p:txBody>
      </p:sp>
      <p:sp>
        <p:nvSpPr>
          <p:cNvPr id="3" name="Shape 1"/>
          <p:cNvSpPr/>
          <p:nvPr/>
        </p:nvSpPr>
        <p:spPr>
          <a:xfrm>
            <a:off x="8033343" y="2717006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8700" y="291236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المقرر</a:t>
            </a:r>
            <a:endParaRPr lang="ar-SA" sz="1850" dirty="0"/>
          </a:p>
        </p:txBody>
      </p:sp>
      <p:sp>
        <p:nvSpPr>
          <p:cNvPr id="5" name="Text 3"/>
          <p:cNvSpPr/>
          <p:nvPr/>
        </p:nvSpPr>
        <p:spPr>
          <a:xfrm>
            <a:off x="8228700" y="3321050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الحوسبة السحابية</a:t>
            </a:r>
            <a:endParaRPr lang="ar-SA" sz="1450" dirty="0"/>
          </a:p>
        </p:txBody>
      </p:sp>
      <p:sp>
        <p:nvSpPr>
          <p:cNvPr id="6" name="Shape 4"/>
          <p:cNvSpPr/>
          <p:nvPr/>
        </p:nvSpPr>
        <p:spPr>
          <a:xfrm>
            <a:off x="4347458" y="2717006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815" y="291236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إعداد الطالب</a:t>
            </a:r>
            <a:endParaRPr lang="ar-SA" sz="1850" dirty="0"/>
          </a:p>
        </p:txBody>
      </p:sp>
      <p:sp>
        <p:nvSpPr>
          <p:cNvPr id="8" name="Text 6"/>
          <p:cNvSpPr/>
          <p:nvPr/>
        </p:nvSpPr>
        <p:spPr>
          <a:xfrm>
            <a:off x="4542815" y="3321050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محمد عبد الجبار قاسم يحيى ناجي</a:t>
            </a:r>
            <a:endParaRPr lang="ar-SA" sz="1450" dirty="0"/>
          </a:p>
        </p:txBody>
      </p:sp>
      <p:sp>
        <p:nvSpPr>
          <p:cNvPr id="9" name="Shape 7"/>
          <p:cNvSpPr/>
          <p:nvPr/>
        </p:nvSpPr>
        <p:spPr>
          <a:xfrm>
            <a:off x="661574" y="2717006"/>
            <a:ext cx="3496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931" y="291236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إشراف الدكتور</a:t>
            </a:r>
            <a:endParaRPr lang="ar-SA" sz="1850" dirty="0"/>
          </a:p>
        </p:txBody>
      </p:sp>
      <p:sp>
        <p:nvSpPr>
          <p:cNvPr id="11" name="Text 9"/>
          <p:cNvSpPr/>
          <p:nvPr/>
        </p:nvSpPr>
        <p:spPr>
          <a:xfrm>
            <a:off x="856931" y="3321050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401" y="400784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757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الجامعة</a:t>
            </a:r>
            <a:endParaRPr lang="ar-SA" sz="1850" dirty="0"/>
          </a:p>
        </p:txBody>
      </p:sp>
      <p:sp>
        <p:nvSpPr>
          <p:cNvPr id="14" name="Text 12"/>
          <p:cNvSpPr/>
          <p:nvPr/>
        </p:nvSpPr>
        <p:spPr>
          <a:xfrm>
            <a:off x="6385757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574" y="400784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931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العام الدراسي</a:t>
            </a:r>
            <a:endParaRPr lang="ar-SA" sz="1850" dirty="0"/>
          </a:p>
        </p:txBody>
      </p:sp>
      <p:sp>
        <p:nvSpPr>
          <p:cNvPr id="17" name="Text 15"/>
          <p:cNvSpPr/>
          <p:nvPr/>
        </p:nvSpPr>
        <p:spPr>
          <a:xfrm>
            <a:off x="856931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ما هي الحوسبة السحابية؟</a:t>
            </a:r>
            <a:endParaRPr lang="ar-SA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207643"/>
            <a:ext cx="587400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الحوسبة السحابية هي تقنية تتيح للمستخدم الوصول إلى الملفات والبرامج والموارد الحاسوبية عبر الإنترنت، دون الحاجة إلى تخزينها أو تشغيلها على جهازه المحلي.</a:t>
            </a:r>
            <a:endParaRPr lang="ar-SA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2403" y="939006"/>
            <a:ext cx="4764068" cy="476418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3119" y="5812284"/>
            <a:ext cx="141681" cy="1416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5414" y="5809357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الوصول من أي مكان</a:t>
            </a:r>
            <a:endParaRPr lang="ar-SA" sz="900" dirty="0"/>
          </a:p>
        </p:txBody>
      </p:sp>
      <p:sp>
        <p:nvSpPr>
          <p:cNvPr id="7" name="Text 3"/>
          <p:cNvSpPr/>
          <p:nvPr/>
        </p:nvSpPr>
        <p:spPr>
          <a:xfrm>
            <a:off x="6125414" y="5985272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البيانات متاحة عبر الإنترنت من أي جهاز.</a:t>
            </a:r>
            <a:endParaRPr lang="ar-SA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9279" y="5812284"/>
            <a:ext cx="141681" cy="1416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5809357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تقليل الاعتماد على التخزين المحلي</a:t>
            </a:r>
            <a:endParaRPr lang="ar-SA" sz="900" dirty="0"/>
          </a:p>
        </p:txBody>
      </p:sp>
      <p:sp>
        <p:nvSpPr>
          <p:cNvPr id="10" name="Text 5"/>
          <p:cNvSpPr/>
          <p:nvPr/>
        </p:nvSpPr>
        <p:spPr>
          <a:xfrm>
            <a:off x="661475" y="5985272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حفظ الملفات على خوادم سحابية آمنة.</a:t>
            </a:r>
            <a:endParaRPr lang="ar-SA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53119" y="6196062"/>
            <a:ext cx="141681" cy="1416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5414" y="6193135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المشاركة والتعاون</a:t>
            </a:r>
            <a:endParaRPr lang="ar-SA" sz="900" dirty="0"/>
          </a:p>
        </p:txBody>
      </p:sp>
      <p:sp>
        <p:nvSpPr>
          <p:cNvPr id="13" name="Text 7"/>
          <p:cNvSpPr/>
          <p:nvPr/>
        </p:nvSpPr>
        <p:spPr>
          <a:xfrm>
            <a:off x="6125414" y="6369050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مشاركة الملفات والعمل الجماعي بسهولة.</a:t>
            </a:r>
            <a:endParaRPr lang="ar-SA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89279" y="6196062"/>
            <a:ext cx="141681" cy="1416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6193135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توفير الوقت والجهد</a:t>
            </a:r>
            <a:endParaRPr lang="ar-SA" sz="900" dirty="0"/>
          </a:p>
        </p:txBody>
      </p:sp>
      <p:sp>
        <p:nvSpPr>
          <p:cNvPr id="16" name="Text 9"/>
          <p:cNvSpPr/>
          <p:nvPr/>
        </p:nvSpPr>
        <p:spPr>
          <a:xfrm>
            <a:off x="661475" y="6369050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الخدمات جاهزة دون تثبيت برامج معقدة.</a:t>
            </a:r>
            <a:endParaRPr lang="ar-SA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97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3350" b="1" spc="-10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ما هو Google Drive؟</a:t>
            </a:r>
            <a:endParaRPr lang="ar-SA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9649"/>
            <a:ext cx="4661081" cy="23191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6805" y="2377976"/>
            <a:ext cx="578966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Drive هو خدمة تخزين سحابية تابعة لشركة Google، تتيح للمستخدم حفظ الملفات والمجلدات على الإنترنت والوصول إليها من أجهزة مختلفة.</a:t>
            </a:r>
            <a:endParaRPr lang="ar-SA" sz="1300" dirty="0"/>
          </a:p>
        </p:txBody>
      </p:sp>
      <p:sp>
        <p:nvSpPr>
          <p:cNvPr id="5" name="Shape 2"/>
          <p:cNvSpPr/>
          <p:nvPr/>
        </p:nvSpPr>
        <p:spPr>
          <a:xfrm>
            <a:off x="8929464" y="4148038"/>
            <a:ext cx="2600756" cy="1008856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19761" y="4338340"/>
            <a:ext cx="2220162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📁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تخزين الملفات</a:t>
            </a:r>
            <a:endParaRPr lang="ar-SA" sz="1650" dirty="0"/>
          </a:p>
        </p:txBody>
      </p:sp>
      <p:sp>
        <p:nvSpPr>
          <p:cNvPr id="7" name="Text 4"/>
          <p:cNvSpPr/>
          <p:nvPr/>
        </p:nvSpPr>
        <p:spPr>
          <a:xfrm>
            <a:off x="9119761" y="4705350"/>
            <a:ext cx="222016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مستندات، صور، فيديوهات</a:t>
            </a:r>
            <a:endParaRPr lang="ar-SA" sz="1300" dirty="0"/>
          </a:p>
        </p:txBody>
      </p:sp>
      <p:sp>
        <p:nvSpPr>
          <p:cNvPr id="8" name="Shape 5"/>
          <p:cNvSpPr/>
          <p:nvPr/>
        </p:nvSpPr>
        <p:spPr>
          <a:xfrm>
            <a:off x="6173435" y="4148038"/>
            <a:ext cx="2600855" cy="1008856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3731" y="4338340"/>
            <a:ext cx="2220262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📂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تنظيم المجلدات</a:t>
            </a:r>
            <a:endParaRPr lang="ar-SA" sz="1650" dirty="0"/>
          </a:p>
        </p:txBody>
      </p:sp>
      <p:sp>
        <p:nvSpPr>
          <p:cNvPr id="10" name="Text 7"/>
          <p:cNvSpPr/>
          <p:nvPr/>
        </p:nvSpPr>
        <p:spPr>
          <a:xfrm>
            <a:off x="6363731" y="4705350"/>
            <a:ext cx="222026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إنشاء وتصنيف المجلدات</a:t>
            </a:r>
            <a:endParaRPr lang="ar-SA" sz="1300" dirty="0"/>
          </a:p>
        </p:txBody>
      </p:sp>
      <p:sp>
        <p:nvSpPr>
          <p:cNvPr id="11" name="Shape 8"/>
          <p:cNvSpPr/>
          <p:nvPr/>
        </p:nvSpPr>
        <p:spPr>
          <a:xfrm>
            <a:off x="3417504" y="4148038"/>
            <a:ext cx="2600756" cy="1008856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07801" y="4338340"/>
            <a:ext cx="2220162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📤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رفع الملفات</a:t>
            </a:r>
            <a:endParaRPr lang="ar-SA" sz="1650" dirty="0"/>
          </a:p>
        </p:txBody>
      </p:sp>
      <p:sp>
        <p:nvSpPr>
          <p:cNvPr id="13" name="Text 10"/>
          <p:cNvSpPr/>
          <p:nvPr/>
        </p:nvSpPr>
        <p:spPr>
          <a:xfrm>
            <a:off x="3607801" y="4705350"/>
            <a:ext cx="222016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الكمبيوتر أو الهاتف</a:t>
            </a:r>
            <a:endParaRPr lang="ar-SA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4148038"/>
            <a:ext cx="2600855" cy="1008856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1772" y="4338340"/>
            <a:ext cx="2220262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مشاركة الملفات</a:t>
            </a:r>
            <a:endParaRPr lang="ar-SA" sz="1650" dirty="0"/>
          </a:p>
        </p:txBody>
      </p:sp>
      <p:sp>
        <p:nvSpPr>
          <p:cNvPr id="16" name="Text 13"/>
          <p:cNvSpPr/>
          <p:nvPr/>
        </p:nvSpPr>
        <p:spPr>
          <a:xfrm>
            <a:off x="851772" y="4705350"/>
            <a:ext cx="222026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مع الآخرين عبر الإنترنت</a:t>
            </a:r>
            <a:endParaRPr lang="ar-SA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312073"/>
            <a:ext cx="10868745" cy="1008856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1772" y="5502374"/>
            <a:ext cx="10488152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650" b="1" spc="-5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الوصول من أي مكان</a:t>
            </a:r>
            <a:endParaRPr lang="ar-SA" sz="1650" dirty="0"/>
          </a:p>
        </p:txBody>
      </p:sp>
      <p:sp>
        <p:nvSpPr>
          <p:cNvPr id="19" name="Text 16"/>
          <p:cNvSpPr/>
          <p:nvPr/>
        </p:nvSpPr>
        <p:spPr>
          <a:xfrm>
            <a:off x="851772" y="5869384"/>
            <a:ext cx="1048815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بأي جهاز متصل بالإنترنت</a:t>
            </a:r>
            <a:endParaRPr lang="ar-SA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926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3150" b="1" spc="-9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أهم مميزات Google Drive</a:t>
            </a:r>
            <a:endParaRPr lang="ar-SA" sz="3150" dirty="0"/>
          </a:p>
        </p:txBody>
      </p:sp>
      <p:sp>
        <p:nvSpPr>
          <p:cNvPr id="3" name="Shape 1"/>
          <p:cNvSpPr/>
          <p:nvPr/>
        </p:nvSpPr>
        <p:spPr>
          <a:xfrm>
            <a:off x="6165597" y="1367631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74202" y="1536402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08243" y="1670348"/>
            <a:ext cx="219268" cy="219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4363" y="2163167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التخزين السحابي</a:t>
            </a:r>
            <a:endParaRPr lang="ar-SA" sz="1550" dirty="0"/>
          </a:p>
        </p:txBody>
      </p:sp>
      <p:sp>
        <p:nvSpPr>
          <p:cNvPr id="7" name="Text 4"/>
          <p:cNvSpPr/>
          <p:nvPr/>
        </p:nvSpPr>
        <p:spPr>
          <a:xfrm>
            <a:off x="6334363" y="2500709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حفظ الملفات على الإنترنت بأمان.</a:t>
            </a:r>
            <a:endParaRPr lang="ar-SA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1367631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0081" y="1536402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4122" y="1670348"/>
            <a:ext cx="219268" cy="219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0242" y="2163167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الوصول من أي مكان</a:t>
            </a:r>
            <a:endParaRPr lang="ar-SA" sz="1550" dirty="0"/>
          </a:p>
        </p:txBody>
      </p:sp>
      <p:sp>
        <p:nvSpPr>
          <p:cNvPr id="12" name="Text 8"/>
          <p:cNvSpPr/>
          <p:nvPr/>
        </p:nvSpPr>
        <p:spPr>
          <a:xfrm>
            <a:off x="830242" y="2500709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استخدام أجهزة متعددة للوصول إلى الملفات.</a:t>
            </a:r>
            <a:endParaRPr lang="ar-SA" sz="1250" dirty="0"/>
          </a:p>
        </p:txBody>
      </p:sp>
      <p:sp>
        <p:nvSpPr>
          <p:cNvPr id="13" name="Shape 9"/>
          <p:cNvSpPr/>
          <p:nvPr/>
        </p:nvSpPr>
        <p:spPr>
          <a:xfrm>
            <a:off x="6165597" y="3050580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874202" y="3219351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08243" y="3353296"/>
            <a:ext cx="219268" cy="219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34363" y="3846116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مشاركة الملفات</a:t>
            </a:r>
            <a:endParaRPr lang="ar-SA" sz="1550" dirty="0"/>
          </a:p>
        </p:txBody>
      </p:sp>
      <p:sp>
        <p:nvSpPr>
          <p:cNvPr id="17" name="Text 12"/>
          <p:cNvSpPr/>
          <p:nvPr/>
        </p:nvSpPr>
        <p:spPr>
          <a:xfrm>
            <a:off x="6334363" y="4183658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مشاركة الملفات والمجلدات مع الآخرين.</a:t>
            </a:r>
            <a:endParaRPr lang="ar-SA" sz="1250" dirty="0"/>
          </a:p>
        </p:txBody>
      </p:sp>
      <p:sp>
        <p:nvSpPr>
          <p:cNvPr id="18" name="Shape 13"/>
          <p:cNvSpPr/>
          <p:nvPr/>
        </p:nvSpPr>
        <p:spPr>
          <a:xfrm>
            <a:off x="661475" y="3050580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70081" y="3219351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4122" y="3353296"/>
            <a:ext cx="219268" cy="219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0242" y="3846116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التعاون</a:t>
            </a:r>
            <a:endParaRPr lang="ar-SA" sz="1550" dirty="0"/>
          </a:p>
        </p:txBody>
      </p:sp>
      <p:sp>
        <p:nvSpPr>
          <p:cNvPr id="22" name="Text 16"/>
          <p:cNvSpPr/>
          <p:nvPr/>
        </p:nvSpPr>
        <p:spPr>
          <a:xfrm>
            <a:off x="830242" y="4183658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العمل المشترك على الملفات في الوقت الفعلي.</a:t>
            </a:r>
            <a:endParaRPr lang="ar-SA" sz="1250" dirty="0"/>
          </a:p>
        </p:txBody>
      </p:sp>
      <p:sp>
        <p:nvSpPr>
          <p:cNvPr id="23" name="Shape 17"/>
          <p:cNvSpPr/>
          <p:nvPr/>
        </p:nvSpPr>
        <p:spPr>
          <a:xfrm>
            <a:off x="6165597" y="4733528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874202" y="4902299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08243" y="5036245"/>
            <a:ext cx="219268" cy="2192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34363" y="5529064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تنظيم الملفات</a:t>
            </a:r>
            <a:endParaRPr lang="ar-SA" sz="1550" dirty="0"/>
          </a:p>
        </p:txBody>
      </p:sp>
      <p:sp>
        <p:nvSpPr>
          <p:cNvPr id="27" name="Text 20"/>
          <p:cNvSpPr/>
          <p:nvPr/>
        </p:nvSpPr>
        <p:spPr>
          <a:xfrm>
            <a:off x="6334363" y="5866606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إنشاء المجلدات وترتيب الملفات بسهولة.</a:t>
            </a:r>
            <a:endParaRPr lang="ar-SA" sz="1250" dirty="0"/>
          </a:p>
        </p:txBody>
      </p:sp>
      <p:sp>
        <p:nvSpPr>
          <p:cNvPr id="28" name="Shape 21"/>
          <p:cNvSpPr/>
          <p:nvPr/>
        </p:nvSpPr>
        <p:spPr>
          <a:xfrm>
            <a:off x="661475" y="4733528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370081" y="4902299"/>
            <a:ext cx="487251" cy="487263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04122" y="5036245"/>
            <a:ext cx="219268" cy="219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0242" y="5529064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التحكم في الصلاحيات</a:t>
            </a:r>
            <a:endParaRPr lang="ar-SA" sz="1550" dirty="0"/>
          </a:p>
        </p:txBody>
      </p:sp>
      <p:sp>
        <p:nvSpPr>
          <p:cNvPr id="32" name="Text 24"/>
          <p:cNvSpPr/>
          <p:nvPr/>
        </p:nvSpPr>
        <p:spPr>
          <a:xfrm>
            <a:off x="830242" y="5866606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ar-SA" alt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تحديد صلاحية المستخدم: مشاهدة أو تعليق أو تعديل.</a:t>
            </a:r>
            <a:endParaRPr lang="ar-SA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033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2200" b="1" spc="-6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طريقة استخدام Google Drive: رفع ملف</a:t>
            </a:r>
            <a:endParaRPr lang="ar-SA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24831"/>
            <a:ext cx="4740256" cy="36588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12044" y="1105595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681917" y="1283494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5681917" y="136495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تسجيل الدخول</a:t>
            </a:r>
            <a:endParaRPr lang="ar-SA" sz="1100" dirty="0"/>
          </a:p>
        </p:txBody>
      </p:sp>
      <p:sp>
        <p:nvSpPr>
          <p:cNvPr id="7" name="Text 4"/>
          <p:cNvSpPr/>
          <p:nvPr/>
        </p:nvSpPr>
        <p:spPr>
          <a:xfrm>
            <a:off x="5681917" y="1606848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الدخول إلى حساب Google.</a:t>
            </a:r>
            <a:endParaRPr lang="ar-SA" sz="850" dirty="0"/>
          </a:p>
        </p:txBody>
      </p:sp>
      <p:sp>
        <p:nvSpPr>
          <p:cNvPr id="8" name="Text 5"/>
          <p:cNvSpPr/>
          <p:nvPr/>
        </p:nvSpPr>
        <p:spPr>
          <a:xfrm>
            <a:off x="11312044" y="1900634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681917" y="2078534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681917" y="215999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فتح Google Drive</a:t>
            </a:r>
            <a:endParaRPr lang="ar-SA" sz="1100" dirty="0"/>
          </a:p>
        </p:txBody>
      </p:sp>
      <p:sp>
        <p:nvSpPr>
          <p:cNvPr id="11" name="Text 8"/>
          <p:cNvSpPr/>
          <p:nvPr/>
        </p:nvSpPr>
        <p:spPr>
          <a:xfrm>
            <a:off x="5681917" y="2401888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الانتقال إلى drive.google.com.</a:t>
            </a:r>
            <a:endParaRPr lang="ar-SA" sz="850" dirty="0"/>
          </a:p>
        </p:txBody>
      </p:sp>
      <p:sp>
        <p:nvSpPr>
          <p:cNvPr id="12" name="Text 9"/>
          <p:cNvSpPr/>
          <p:nvPr/>
        </p:nvSpPr>
        <p:spPr>
          <a:xfrm>
            <a:off x="11312044" y="2695674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81917" y="2873573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5681917" y="295503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الضغط على "جديد (+)"</a:t>
            </a:r>
            <a:endParaRPr lang="ar-SA" sz="1100" dirty="0"/>
          </a:p>
        </p:txBody>
      </p:sp>
      <p:sp>
        <p:nvSpPr>
          <p:cNvPr id="15" name="Text 12"/>
          <p:cNvSpPr/>
          <p:nvPr/>
        </p:nvSpPr>
        <p:spPr>
          <a:xfrm>
            <a:off x="5681917" y="3196927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زر New في أعلى يمين الواجهة.</a:t>
            </a:r>
            <a:endParaRPr lang="ar-SA" sz="850" dirty="0"/>
          </a:p>
        </p:txBody>
      </p:sp>
      <p:sp>
        <p:nvSpPr>
          <p:cNvPr id="16" name="Text 13"/>
          <p:cNvSpPr/>
          <p:nvPr/>
        </p:nvSpPr>
        <p:spPr>
          <a:xfrm>
            <a:off x="11312044" y="3490714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81917" y="3668613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5681917" y="375007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اختيار "تحميل ملف"</a:t>
            </a:r>
            <a:endParaRPr lang="ar-SA" sz="1100" dirty="0"/>
          </a:p>
        </p:txBody>
      </p:sp>
      <p:sp>
        <p:nvSpPr>
          <p:cNvPr id="19" name="Text 16"/>
          <p:cNvSpPr/>
          <p:nvPr/>
        </p:nvSpPr>
        <p:spPr>
          <a:xfrm>
            <a:off x="5681917" y="3991967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Upload من القائمة المنسدلة.</a:t>
            </a:r>
            <a:endParaRPr lang="ar-SA" sz="850" dirty="0"/>
          </a:p>
        </p:txBody>
      </p:sp>
      <p:sp>
        <p:nvSpPr>
          <p:cNvPr id="20" name="Text 17"/>
          <p:cNvSpPr/>
          <p:nvPr/>
        </p:nvSpPr>
        <p:spPr>
          <a:xfrm>
            <a:off x="11312044" y="4285754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81917" y="4463653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5681917" y="454511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اختيار الملف</a:t>
            </a:r>
            <a:endParaRPr lang="ar-SA" sz="1100" dirty="0"/>
          </a:p>
        </p:txBody>
      </p:sp>
      <p:sp>
        <p:nvSpPr>
          <p:cNvPr id="23" name="Text 20"/>
          <p:cNvSpPr/>
          <p:nvPr/>
        </p:nvSpPr>
        <p:spPr>
          <a:xfrm>
            <a:off x="5681917" y="4787007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تحديد الملف من جهاز الكمبيوتر.</a:t>
            </a:r>
            <a:endParaRPr lang="ar-SA" sz="850" dirty="0"/>
          </a:p>
        </p:txBody>
      </p:sp>
      <p:sp>
        <p:nvSpPr>
          <p:cNvPr id="24" name="Text 21"/>
          <p:cNvSpPr/>
          <p:nvPr/>
        </p:nvSpPr>
        <p:spPr>
          <a:xfrm>
            <a:off x="11312044" y="5080794"/>
            <a:ext cx="224427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81917" y="5258693"/>
            <a:ext cx="5854554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3"/>
          <p:cNvSpPr/>
          <p:nvPr/>
        </p:nvSpPr>
        <p:spPr>
          <a:xfrm>
            <a:off x="5681917" y="5340152"/>
            <a:ext cx="58545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اكتمال الرفع</a:t>
            </a:r>
            <a:endParaRPr lang="ar-SA" sz="1100" dirty="0"/>
          </a:p>
        </p:txBody>
      </p:sp>
      <p:sp>
        <p:nvSpPr>
          <p:cNvPr id="27" name="Text 24"/>
          <p:cNvSpPr/>
          <p:nvPr/>
        </p:nvSpPr>
        <p:spPr>
          <a:xfrm>
            <a:off x="5681917" y="5582047"/>
            <a:ext cx="5854554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الانتظار حتى يكتمل رفع الملف.</a:t>
            </a:r>
            <a:endParaRPr lang="ar-SA" sz="850" dirty="0"/>
          </a:p>
        </p:txBody>
      </p:sp>
      <p:sp>
        <p:nvSpPr>
          <p:cNvPr id="28" name="Shape 25"/>
          <p:cNvSpPr/>
          <p:nvPr/>
        </p:nvSpPr>
        <p:spPr>
          <a:xfrm>
            <a:off x="5681917" y="5884168"/>
            <a:ext cx="5854554" cy="318889"/>
          </a:xfrm>
          <a:prstGeom prst="roundRect">
            <a:avLst>
              <a:gd name="adj" fmla="val 14781"/>
            </a:avLst>
          </a:prstGeom>
          <a:solidFill>
            <a:srgbClr val="DADBF1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131" y="5988447"/>
            <a:ext cx="140193" cy="11221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36952" y="5972076"/>
            <a:ext cx="5987305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ar-SA" altLang="en-US" sz="85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يُخزَّن الملف في Google Drive ويمكن الوصول إليه لاحقًا من أي جهاز آخر.</a:t>
            </a:r>
            <a:endParaRPr lang="ar-SA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809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2250" b="1" spc="-6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طريقة مشاركة ملف في Google Drive</a:t>
            </a:r>
            <a:endParaRPr lang="ar-SA" sz="2250" dirty="0"/>
          </a:p>
        </p:txBody>
      </p:sp>
      <p:sp>
        <p:nvSpPr>
          <p:cNvPr id="3" name="Text 1"/>
          <p:cNvSpPr/>
          <p:nvPr/>
        </p:nvSpPr>
        <p:spPr>
          <a:xfrm>
            <a:off x="6282473" y="1139825"/>
            <a:ext cx="23028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322884"/>
            <a:ext cx="58512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405830"/>
            <a:ext cx="58512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تحديد الملف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1655862"/>
            <a:ext cx="585127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النقر على الملف المراد مشاركته.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6282473" y="1960562"/>
            <a:ext cx="23028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1475" y="2143621"/>
            <a:ext cx="58512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226568"/>
            <a:ext cx="58512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الضغط على "مشاركة"</a:t>
            </a:r>
            <a:endParaRPr lang="ar-SA" sz="1100" dirty="0"/>
          </a:p>
        </p:txBody>
      </p:sp>
      <p:sp>
        <p:nvSpPr>
          <p:cNvPr id="10" name="Text 8"/>
          <p:cNvSpPr/>
          <p:nvPr/>
        </p:nvSpPr>
        <p:spPr>
          <a:xfrm>
            <a:off x="661475" y="2476599"/>
            <a:ext cx="585127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زر Share أو أيقونة الشخص مع +.</a:t>
            </a:r>
            <a:endParaRPr lang="ar-SA" sz="900" dirty="0"/>
          </a:p>
        </p:txBody>
      </p:sp>
      <p:sp>
        <p:nvSpPr>
          <p:cNvPr id="11" name="Text 9"/>
          <p:cNvSpPr/>
          <p:nvPr/>
        </p:nvSpPr>
        <p:spPr>
          <a:xfrm>
            <a:off x="6282473" y="2781300"/>
            <a:ext cx="23028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1475" y="2964359"/>
            <a:ext cx="58512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047305"/>
            <a:ext cx="58512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إدخال البريد الإلكتروني</a:t>
            </a:r>
            <a:endParaRPr lang="ar-SA" sz="1100" dirty="0"/>
          </a:p>
        </p:txBody>
      </p:sp>
      <p:sp>
        <p:nvSpPr>
          <p:cNvPr id="14" name="Text 12"/>
          <p:cNvSpPr/>
          <p:nvPr/>
        </p:nvSpPr>
        <p:spPr>
          <a:xfrm>
            <a:off x="661475" y="3297337"/>
            <a:ext cx="585127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كتابة عنوان بريد الشخص المستلم.</a:t>
            </a:r>
            <a:endParaRPr lang="ar-SA" sz="900" dirty="0"/>
          </a:p>
        </p:txBody>
      </p:sp>
      <p:sp>
        <p:nvSpPr>
          <p:cNvPr id="15" name="Text 13"/>
          <p:cNvSpPr/>
          <p:nvPr/>
        </p:nvSpPr>
        <p:spPr>
          <a:xfrm>
            <a:off x="6282473" y="3602038"/>
            <a:ext cx="23028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1475" y="3785096"/>
            <a:ext cx="58512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868043"/>
            <a:ext cx="58512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تحديد مستوى الصلاحية</a:t>
            </a:r>
            <a:endParaRPr lang="ar-SA" sz="1100" dirty="0"/>
          </a:p>
        </p:txBody>
      </p:sp>
      <p:sp>
        <p:nvSpPr>
          <p:cNvPr id="18" name="Text 16"/>
          <p:cNvSpPr/>
          <p:nvPr/>
        </p:nvSpPr>
        <p:spPr>
          <a:xfrm>
            <a:off x="661475" y="4118074"/>
            <a:ext cx="585127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اختيار نوع الوصول الممنوح.</a:t>
            </a:r>
            <a:endParaRPr lang="ar-SA" sz="900" dirty="0"/>
          </a:p>
        </p:txBody>
      </p:sp>
      <p:sp>
        <p:nvSpPr>
          <p:cNvPr id="19" name="Text 17"/>
          <p:cNvSpPr/>
          <p:nvPr/>
        </p:nvSpPr>
        <p:spPr>
          <a:xfrm>
            <a:off x="6282473" y="4422775"/>
            <a:ext cx="23028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1475" y="4605834"/>
            <a:ext cx="5851279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688780"/>
            <a:ext cx="58512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الضغط على "إرسال"</a:t>
            </a:r>
            <a:endParaRPr lang="ar-SA" sz="1100" dirty="0"/>
          </a:p>
        </p:txBody>
      </p:sp>
      <p:sp>
        <p:nvSpPr>
          <p:cNvPr id="22" name="Text 20"/>
          <p:cNvSpPr/>
          <p:nvPr/>
        </p:nvSpPr>
        <p:spPr>
          <a:xfrm>
            <a:off x="661475" y="4938812"/>
            <a:ext cx="585127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زر Send لإتمام المشاركة.</a:t>
            </a:r>
            <a:endParaRPr lang="ar-SA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085" y="1990923"/>
            <a:ext cx="4736386" cy="23312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1475" y="5357515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مستويات الصلاحيات</a:t>
            </a:r>
            <a:endParaRPr lang="ar-SA" sz="1100" dirty="0"/>
          </a:p>
        </p:txBody>
      </p:sp>
      <p:sp>
        <p:nvSpPr>
          <p:cNvPr id="25" name="Shape 22"/>
          <p:cNvSpPr/>
          <p:nvPr/>
        </p:nvSpPr>
        <p:spPr>
          <a:xfrm>
            <a:off x="661475" y="5642670"/>
            <a:ext cx="10868745" cy="619423"/>
          </a:xfrm>
          <a:prstGeom prst="roundRect">
            <a:avLst>
              <a:gd name="adj" fmla="val 781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5255" y="5649020"/>
            <a:ext cx="3618616" cy="606723"/>
          </a:xfrm>
          <a:custGeom>
            <a:avLst/>
            <a:gdLst/>
            <a:ahLst/>
            <a:cxnLst/>
            <a:rect l="l" t="t" r="r" b="b"/>
            <a:pathLst>
              <a:path w="3618616" h="606723">
                <a:moveTo>
                  <a:pt x="40314" y="0"/>
                </a:moveTo>
                <a:lnTo>
                  <a:pt x="3618616" y="0"/>
                </a:lnTo>
                <a:lnTo>
                  <a:pt x="3618616" y="606723"/>
                </a:lnTo>
                <a:lnTo>
                  <a:pt x="40314" y="606723"/>
                </a:lnTo>
                <a:arcTo hR="40315" wR="40314" stAng="5400000" swAng="5400000"/>
                <a:lnTo>
                  <a:pt x="0" y="40315"/>
                </a:lnTo>
                <a:arcTo hR="40315" wR="40314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7" name="Text 24"/>
          <p:cNvSpPr/>
          <p:nvPr/>
        </p:nvSpPr>
        <p:spPr>
          <a:xfrm>
            <a:off x="8020345" y="5764113"/>
            <a:ext cx="3388434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👁️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مشاهد</a:t>
            </a:r>
            <a:endParaRPr lang="ar-SA" sz="1100" dirty="0"/>
          </a:p>
        </p:txBody>
      </p:sp>
      <p:sp>
        <p:nvSpPr>
          <p:cNvPr id="28" name="Text 25"/>
          <p:cNvSpPr/>
          <p:nvPr/>
        </p:nvSpPr>
        <p:spPr>
          <a:xfrm>
            <a:off x="8020345" y="5992416"/>
            <a:ext cx="338843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يستطيع مشاهدة الملف فقط.</a:t>
            </a:r>
            <a:endParaRPr lang="ar-SA" sz="900" dirty="0"/>
          </a:p>
        </p:txBody>
      </p:sp>
      <p:sp>
        <p:nvSpPr>
          <p:cNvPr id="29" name="Shape 26"/>
          <p:cNvSpPr/>
          <p:nvPr/>
        </p:nvSpPr>
        <p:spPr>
          <a:xfrm>
            <a:off x="4286540" y="5649020"/>
            <a:ext cx="3618715" cy="60672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540" y="5649020"/>
            <a:ext cx="12700" cy="606723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31" name="Text 28"/>
          <p:cNvSpPr/>
          <p:nvPr/>
        </p:nvSpPr>
        <p:spPr>
          <a:xfrm>
            <a:off x="4401631" y="5764113"/>
            <a:ext cx="3388533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معلّق</a:t>
            </a:r>
            <a:endParaRPr lang="ar-SA" sz="1100" dirty="0"/>
          </a:p>
        </p:txBody>
      </p:sp>
      <p:sp>
        <p:nvSpPr>
          <p:cNvPr id="32" name="Text 29"/>
          <p:cNvSpPr/>
          <p:nvPr/>
        </p:nvSpPr>
        <p:spPr>
          <a:xfrm>
            <a:off x="4401631" y="5992416"/>
            <a:ext cx="338853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يستطيع إضافة تعليقات.</a:t>
            </a:r>
            <a:endParaRPr lang="ar-SA" sz="900" dirty="0"/>
          </a:p>
        </p:txBody>
      </p:sp>
      <p:sp>
        <p:nvSpPr>
          <p:cNvPr id="33" name="Shape 30"/>
          <p:cNvSpPr/>
          <p:nvPr/>
        </p:nvSpPr>
        <p:spPr>
          <a:xfrm>
            <a:off x="667825" y="5649020"/>
            <a:ext cx="3618715" cy="606723"/>
          </a:xfrm>
          <a:custGeom>
            <a:avLst/>
            <a:gdLst/>
            <a:ahLst/>
            <a:cxnLst/>
            <a:rect l="l" t="t" r="r" b="b"/>
            <a:pathLst>
              <a:path w="3618715" h="606723">
                <a:moveTo>
                  <a:pt x="0" y="0"/>
                </a:moveTo>
                <a:lnTo>
                  <a:pt x="3578401" y="0"/>
                </a:lnTo>
                <a:arcTo hR="40315" wR="40314" stAng="16200000" swAng="5400000"/>
                <a:lnTo>
                  <a:pt x="3618715" y="566408"/>
                </a:lnTo>
                <a:arcTo hR="40315" wR="40314" stAng="0" swAng="5400000"/>
                <a:lnTo>
                  <a:pt x="0" y="60672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34" name="Shape 31"/>
          <p:cNvSpPr/>
          <p:nvPr/>
        </p:nvSpPr>
        <p:spPr>
          <a:xfrm>
            <a:off x="667825" y="5649020"/>
            <a:ext cx="12700" cy="606723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35" name="Text 32"/>
          <p:cNvSpPr/>
          <p:nvPr/>
        </p:nvSpPr>
        <p:spPr>
          <a:xfrm>
            <a:off x="782916" y="5764113"/>
            <a:ext cx="3388533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✏️</a:t>
            </a:r>
            <a:pPr rtl="1" algn="r" indent="0" marL="0">
              <a:lnSpc>
                <a:spcPct val="104000"/>
              </a:lnSpc>
              <a:buNone/>
            </a:pPr>
            <a:r>
              <a:rPr lang="ar-SA" altLang="en-US" sz="1100" b="1" spc="-3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محرر</a:t>
            </a:r>
            <a:endParaRPr lang="ar-SA" sz="1100" dirty="0"/>
          </a:p>
        </p:txBody>
      </p:sp>
      <p:sp>
        <p:nvSpPr>
          <p:cNvPr id="36" name="Text 33"/>
          <p:cNvSpPr/>
          <p:nvPr/>
        </p:nvSpPr>
        <p:spPr>
          <a:xfrm>
            <a:off x="782916" y="5992416"/>
            <a:ext cx="338853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ar-SA" alt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يستطيع تعديل الملف بالكامل.</a:t>
            </a:r>
            <a:endParaRPr lang="ar-SA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1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الخلاصة</a:t>
            </a:r>
            <a:endParaRPr lang="ar-SA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881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يُعد Google Drive من الخدمات المهمة في مجال الحوسبة السحابية، حيث يوفر طريقة سهلة لحفظ الملفات والوصول إليها ومشاركتها والتعاون عليها من أي مكان.</a:t>
            </a:r>
            <a:endParaRPr lang="ar-SA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3343" y="2466280"/>
            <a:ext cx="3496877" cy="1442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7749" y="26806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مفهوم الحوسبة السحابية</a:t>
            </a:r>
            <a:endParaRPr lang="ar-SA" sz="1850" dirty="0"/>
          </a:p>
        </p:txBody>
      </p:sp>
      <p:sp>
        <p:nvSpPr>
          <p:cNvPr id="6" name="Text 3"/>
          <p:cNvSpPr/>
          <p:nvPr/>
        </p:nvSpPr>
        <p:spPr>
          <a:xfrm>
            <a:off x="8247749" y="30893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تقنية الوصول إلى الموارد عبر الإنترنت.</a:t>
            </a:r>
            <a:endParaRPr lang="ar-SA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458" y="2466280"/>
            <a:ext cx="3496877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61865" y="26806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تعريف Google Drive</a:t>
            </a:r>
            <a:endParaRPr lang="ar-SA" sz="1850" dirty="0"/>
          </a:p>
        </p:txBody>
      </p:sp>
      <p:sp>
        <p:nvSpPr>
          <p:cNvPr id="9" name="Text 5"/>
          <p:cNvSpPr/>
          <p:nvPr/>
        </p:nvSpPr>
        <p:spPr>
          <a:xfrm>
            <a:off x="4561865" y="30893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خدمة تخزين سحابية من Google.</a:t>
            </a:r>
            <a:endParaRPr lang="ar-SA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2466280"/>
            <a:ext cx="3496877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5980" y="26806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أهم المميزات</a:t>
            </a:r>
            <a:endParaRPr lang="ar-SA" sz="1850" dirty="0"/>
          </a:p>
        </p:txBody>
      </p:sp>
      <p:sp>
        <p:nvSpPr>
          <p:cNvPr id="12" name="Text 7"/>
          <p:cNvSpPr/>
          <p:nvPr/>
        </p:nvSpPr>
        <p:spPr>
          <a:xfrm>
            <a:off x="875980" y="308937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التخزين، الوصول، المشاركة، التعاون، التنظيم، الصلاحيات.</a:t>
            </a:r>
            <a:endParaRPr lang="ar-SA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3343" y="4097635"/>
            <a:ext cx="3496877" cy="11399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47749" y="431204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طريقة رفع الملفات</a:t>
            </a:r>
            <a:endParaRPr lang="ar-SA" sz="1850" dirty="0"/>
          </a:p>
        </p:txBody>
      </p:sp>
      <p:sp>
        <p:nvSpPr>
          <p:cNvPr id="15" name="Text 9"/>
          <p:cNvSpPr/>
          <p:nvPr/>
        </p:nvSpPr>
        <p:spPr>
          <a:xfrm>
            <a:off x="8247749" y="4720729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خطوات عملية بسيطة وواضحة.</a:t>
            </a:r>
            <a:endParaRPr lang="ar-SA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458" y="4097635"/>
            <a:ext cx="3496877" cy="11399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61865" y="431204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ar-SA" alt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طريقة المشاركة والصلاحيات</a:t>
            </a:r>
            <a:endParaRPr lang="ar-SA" sz="1850" dirty="0"/>
          </a:p>
        </p:txBody>
      </p:sp>
      <p:sp>
        <p:nvSpPr>
          <p:cNvPr id="18" name="Text 11"/>
          <p:cNvSpPr/>
          <p:nvPr/>
        </p:nvSpPr>
        <p:spPr>
          <a:xfrm>
            <a:off x="4561865" y="4720729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ثلاثة مستويات: مشاهد، معلّق، محرر.</a:t>
            </a:r>
            <a:endParaRPr lang="ar-SA" sz="1450" dirty="0"/>
          </a:p>
        </p:txBody>
      </p:sp>
      <p:sp>
        <p:nvSpPr>
          <p:cNvPr id="19" name="Text 12"/>
          <p:cNvSpPr/>
          <p:nvPr/>
        </p:nvSpPr>
        <p:spPr>
          <a:xfrm>
            <a:off x="51890" y="5662811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ar-SA" alt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شكرًا لحسن الاستماع</a:t>
            </a:r>
            <a:endParaRPr lang="ar-SA" sz="1450" dirty="0"/>
          </a:p>
        </p:txBody>
      </p:sp>
      <p:sp>
        <p:nvSpPr>
          <p:cNvPr id="20" name="Shape 13"/>
          <p:cNvSpPr/>
          <p:nvPr/>
        </p:nvSpPr>
        <p:spPr>
          <a:xfrm>
            <a:off x="11504821" y="545018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2026-08-20T20:43:56Z</dcterms:created>
  <dcterms:modified xsi:type="dcterms:W3CDTF">2026-08-20T20:43:56Z</dcterms:modified>
</cp:coreProperties>
</file>